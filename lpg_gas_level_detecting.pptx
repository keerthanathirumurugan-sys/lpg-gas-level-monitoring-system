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69" r:id="rId5"/>
    <p:sldId id="259" r:id="rId6"/>
    <p:sldId id="260" r:id="rId7"/>
    <p:sldId id="261" r:id="rId8"/>
    <p:sldId id="265" r:id="rId9"/>
    <p:sldId id="262" r:id="rId10"/>
    <p:sldId id="264" r:id="rId11"/>
    <p:sldId id="266" r:id="rId12"/>
    <p:sldId id="267" r:id="rId13"/>
    <p:sldId id="268" r:id="rId14"/>
    <p:sldId id="263"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B8AA8DA-A198-43F5-AD1B-517ABD466AAC}">
          <p14:sldIdLst>
            <p14:sldId id="256"/>
            <p14:sldId id="257"/>
            <p14:sldId id="258"/>
            <p14:sldId id="269"/>
            <p14:sldId id="259"/>
            <p14:sldId id="260"/>
            <p14:sldId id="261"/>
            <p14:sldId id="265"/>
            <p14:sldId id="262"/>
            <p14:sldId id="264"/>
            <p14:sldId id="266"/>
            <p14:sldId id="267"/>
            <p14:sldId id="268"/>
            <p14:sldId id="263"/>
            <p14:sldId id="270"/>
            <p14:sldId id="27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074" autoAdjust="0"/>
    <p:restoredTop sz="94660"/>
  </p:normalViewPr>
  <p:slideViewPr>
    <p:cSldViewPr snapToGrid="0">
      <p:cViewPr varScale="1">
        <p:scale>
          <a:sx n="82" d="100"/>
          <a:sy n="82" d="100"/>
        </p:scale>
        <p:origin x="25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8F9A87-D573-445C-A7B6-E17E330839AF}" type="datetimeFigureOut">
              <a:rPr lang="en-IN" smtClean="0"/>
              <a:t>05-07-2026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1FA43-0CB6-4C02-8712-546F13FFA3C8}" type="slidenum">
              <a:rPr lang="en-IN" smtClean="0"/>
              <a:t>‹#›</a:t>
            </a:fld>
            <a:endParaRPr lang="en-IN"/>
          </a:p>
        </p:txBody>
      </p:sp>
    </p:spTree>
    <p:extLst>
      <p:ext uri="{BB962C8B-B14F-4D97-AF65-F5344CB8AC3E}">
        <p14:creationId xmlns:p14="http://schemas.microsoft.com/office/powerpoint/2010/main" val="304787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497B3-1C25-3B68-88B2-DF5E377E7F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BEA077C-7515-2787-DA68-81750C3A92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34E0B7-E818-0AFC-3B24-4B76C92CA792}"/>
              </a:ext>
            </a:extLst>
          </p:cNvPr>
          <p:cNvSpPr>
            <a:spLocks noGrp="1"/>
          </p:cNvSpPr>
          <p:nvPr>
            <p:ph type="dt" sz="half" idx="10"/>
          </p:nvPr>
        </p:nvSpPr>
        <p:spPr/>
        <p:txBody>
          <a:bodyPr/>
          <a:lstStyle/>
          <a:p>
            <a:fld id="{BC2B0E1A-C15B-45B3-90BE-95827DCF0ED9}" type="datetime1">
              <a:rPr lang="en-IN" smtClean="0"/>
              <a:t>05-07-2026</a:t>
            </a:fld>
            <a:endParaRPr lang="en-IN"/>
          </a:p>
        </p:txBody>
      </p:sp>
      <p:sp>
        <p:nvSpPr>
          <p:cNvPr id="5" name="Footer Placeholder 4">
            <a:extLst>
              <a:ext uri="{FF2B5EF4-FFF2-40B4-BE49-F238E27FC236}">
                <a16:creationId xmlns:a16="http://schemas.microsoft.com/office/drawing/2014/main" id="{1E41E2C9-9E20-9B80-418B-64DD5F5D8160}"/>
              </a:ext>
            </a:extLst>
          </p:cNvPr>
          <p:cNvSpPr>
            <a:spLocks noGrp="1"/>
          </p:cNvSpPr>
          <p:nvPr>
            <p:ph type="ftr" sz="quarter" idx="11"/>
          </p:nvPr>
        </p:nvSpPr>
        <p:spPr/>
        <p:txBody>
          <a:bodyPr/>
          <a:lstStyle/>
          <a:p>
            <a:r>
              <a:rPr lang="en-US"/>
              <a:t>2nd year IAP presentation - bacth name</a:t>
            </a:r>
            <a:endParaRPr lang="en-IN"/>
          </a:p>
        </p:txBody>
      </p:sp>
      <p:sp>
        <p:nvSpPr>
          <p:cNvPr id="6" name="Slide Number Placeholder 5">
            <a:extLst>
              <a:ext uri="{FF2B5EF4-FFF2-40B4-BE49-F238E27FC236}">
                <a16:creationId xmlns:a16="http://schemas.microsoft.com/office/drawing/2014/main" id="{A8D63B13-4767-107B-F9B1-25932E6DDAF7}"/>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2593129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19197-E0DE-361E-3FC6-FEBBE3D41B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B7A677-0893-C14D-354B-60DA9DE097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47DB85-3515-5F48-FF03-97EF238AF2D3}"/>
              </a:ext>
            </a:extLst>
          </p:cNvPr>
          <p:cNvSpPr>
            <a:spLocks noGrp="1"/>
          </p:cNvSpPr>
          <p:nvPr>
            <p:ph type="dt" sz="half" idx="10"/>
          </p:nvPr>
        </p:nvSpPr>
        <p:spPr/>
        <p:txBody>
          <a:bodyPr/>
          <a:lstStyle/>
          <a:p>
            <a:fld id="{0D301F47-77D3-4C99-A84C-D1D4E56E2DF3}" type="datetime1">
              <a:rPr lang="en-IN" smtClean="0"/>
              <a:t>05-07-2026</a:t>
            </a:fld>
            <a:endParaRPr lang="en-IN"/>
          </a:p>
        </p:txBody>
      </p:sp>
      <p:sp>
        <p:nvSpPr>
          <p:cNvPr id="5" name="Footer Placeholder 4">
            <a:extLst>
              <a:ext uri="{FF2B5EF4-FFF2-40B4-BE49-F238E27FC236}">
                <a16:creationId xmlns:a16="http://schemas.microsoft.com/office/drawing/2014/main" id="{BAA0A27B-8821-7AFE-3789-F815BC5662AD}"/>
              </a:ext>
            </a:extLst>
          </p:cNvPr>
          <p:cNvSpPr>
            <a:spLocks noGrp="1"/>
          </p:cNvSpPr>
          <p:nvPr>
            <p:ph type="ftr" sz="quarter" idx="11"/>
          </p:nvPr>
        </p:nvSpPr>
        <p:spPr/>
        <p:txBody>
          <a:bodyPr/>
          <a:lstStyle/>
          <a:p>
            <a:r>
              <a:rPr lang="en-US"/>
              <a:t>2nd year IAP presentation - bacth name</a:t>
            </a:r>
            <a:endParaRPr lang="en-IN"/>
          </a:p>
        </p:txBody>
      </p:sp>
      <p:sp>
        <p:nvSpPr>
          <p:cNvPr id="6" name="Slide Number Placeholder 5">
            <a:extLst>
              <a:ext uri="{FF2B5EF4-FFF2-40B4-BE49-F238E27FC236}">
                <a16:creationId xmlns:a16="http://schemas.microsoft.com/office/drawing/2014/main" id="{558946FD-745B-CEFD-6691-46A4B13E1963}"/>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3197282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366A0-96E4-DA79-6342-753F661C03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7FE9AB9-6F5C-9223-9A44-28C7848EF9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8B0848-4E6B-AF12-0DA0-9435CB9044E6}"/>
              </a:ext>
            </a:extLst>
          </p:cNvPr>
          <p:cNvSpPr>
            <a:spLocks noGrp="1"/>
          </p:cNvSpPr>
          <p:nvPr>
            <p:ph type="dt" sz="half" idx="10"/>
          </p:nvPr>
        </p:nvSpPr>
        <p:spPr/>
        <p:txBody>
          <a:bodyPr/>
          <a:lstStyle/>
          <a:p>
            <a:fld id="{60760D8F-33FB-44AB-8BDF-F9F591D37350}" type="datetime1">
              <a:rPr lang="en-IN" smtClean="0"/>
              <a:t>05-07-2026</a:t>
            </a:fld>
            <a:endParaRPr lang="en-IN"/>
          </a:p>
        </p:txBody>
      </p:sp>
      <p:sp>
        <p:nvSpPr>
          <p:cNvPr id="5" name="Footer Placeholder 4">
            <a:extLst>
              <a:ext uri="{FF2B5EF4-FFF2-40B4-BE49-F238E27FC236}">
                <a16:creationId xmlns:a16="http://schemas.microsoft.com/office/drawing/2014/main" id="{C994BB9E-AC98-342B-629B-A7BF40063F5A}"/>
              </a:ext>
            </a:extLst>
          </p:cNvPr>
          <p:cNvSpPr>
            <a:spLocks noGrp="1"/>
          </p:cNvSpPr>
          <p:nvPr>
            <p:ph type="ftr" sz="quarter" idx="11"/>
          </p:nvPr>
        </p:nvSpPr>
        <p:spPr/>
        <p:txBody>
          <a:bodyPr/>
          <a:lstStyle/>
          <a:p>
            <a:r>
              <a:rPr lang="en-US"/>
              <a:t>2nd year IAP presentation - bacth name</a:t>
            </a:r>
            <a:endParaRPr lang="en-IN"/>
          </a:p>
        </p:txBody>
      </p:sp>
      <p:sp>
        <p:nvSpPr>
          <p:cNvPr id="6" name="Slide Number Placeholder 5">
            <a:extLst>
              <a:ext uri="{FF2B5EF4-FFF2-40B4-BE49-F238E27FC236}">
                <a16:creationId xmlns:a16="http://schemas.microsoft.com/office/drawing/2014/main" id="{4E13EBAD-F089-7C62-E02D-65FE3654D45C}"/>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2337920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3E09F-3166-3636-EC3E-A50BD7FA95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38AD03-897B-749A-8093-E229D5BA16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6629AA-068A-926A-F8AD-6E75A852FD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CEA58FF-2F1D-44EB-F447-5D9442028F95}"/>
              </a:ext>
            </a:extLst>
          </p:cNvPr>
          <p:cNvSpPr>
            <a:spLocks noGrp="1"/>
          </p:cNvSpPr>
          <p:nvPr>
            <p:ph type="dt" sz="half" idx="10"/>
          </p:nvPr>
        </p:nvSpPr>
        <p:spPr/>
        <p:txBody>
          <a:bodyPr/>
          <a:lstStyle/>
          <a:p>
            <a:fld id="{B27D3B9D-B792-4106-855E-F2264AC348F5}" type="datetime1">
              <a:rPr lang="en-IN" smtClean="0"/>
              <a:t>05-07-2026</a:t>
            </a:fld>
            <a:endParaRPr lang="en-IN"/>
          </a:p>
        </p:txBody>
      </p:sp>
      <p:sp>
        <p:nvSpPr>
          <p:cNvPr id="6" name="Footer Placeholder 5">
            <a:extLst>
              <a:ext uri="{FF2B5EF4-FFF2-40B4-BE49-F238E27FC236}">
                <a16:creationId xmlns:a16="http://schemas.microsoft.com/office/drawing/2014/main" id="{705C6885-DB42-4510-C037-194B75481898}"/>
              </a:ext>
            </a:extLst>
          </p:cNvPr>
          <p:cNvSpPr>
            <a:spLocks noGrp="1"/>
          </p:cNvSpPr>
          <p:nvPr>
            <p:ph type="ftr" sz="quarter" idx="11"/>
          </p:nvPr>
        </p:nvSpPr>
        <p:spPr/>
        <p:txBody>
          <a:bodyPr/>
          <a:lstStyle/>
          <a:p>
            <a:r>
              <a:rPr lang="en-US"/>
              <a:t>2nd year IAP presentation - bacth name</a:t>
            </a:r>
            <a:endParaRPr lang="en-IN"/>
          </a:p>
        </p:txBody>
      </p:sp>
      <p:sp>
        <p:nvSpPr>
          <p:cNvPr id="7" name="Slide Number Placeholder 6">
            <a:extLst>
              <a:ext uri="{FF2B5EF4-FFF2-40B4-BE49-F238E27FC236}">
                <a16:creationId xmlns:a16="http://schemas.microsoft.com/office/drawing/2014/main" id="{3ACC6243-A62E-C35D-92C4-ED3354C46169}"/>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4259915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E8E46-A1C6-B11B-8A7E-7F91A07399D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B1320C-9E55-1C4D-FDD3-1895424F33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624036-78EF-2F51-4E21-1D0E3FC5FD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6D1E853-98DD-0F67-28BC-0157EE4770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C46A86-4BAB-BEC4-F8C1-F47DE642DD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D68F6F7-2C1D-0294-0C5D-40596B71463D}"/>
              </a:ext>
            </a:extLst>
          </p:cNvPr>
          <p:cNvSpPr>
            <a:spLocks noGrp="1"/>
          </p:cNvSpPr>
          <p:nvPr>
            <p:ph type="dt" sz="half" idx="10"/>
          </p:nvPr>
        </p:nvSpPr>
        <p:spPr/>
        <p:txBody>
          <a:bodyPr/>
          <a:lstStyle/>
          <a:p>
            <a:fld id="{8E0FF465-0724-4768-96F6-BBBE473B0B8A}" type="datetime1">
              <a:rPr lang="en-IN" smtClean="0"/>
              <a:t>05-07-2026</a:t>
            </a:fld>
            <a:endParaRPr lang="en-IN"/>
          </a:p>
        </p:txBody>
      </p:sp>
      <p:sp>
        <p:nvSpPr>
          <p:cNvPr id="8" name="Footer Placeholder 7">
            <a:extLst>
              <a:ext uri="{FF2B5EF4-FFF2-40B4-BE49-F238E27FC236}">
                <a16:creationId xmlns:a16="http://schemas.microsoft.com/office/drawing/2014/main" id="{0EEE6546-F7F2-05CC-77ED-DB00C63FEACB}"/>
              </a:ext>
            </a:extLst>
          </p:cNvPr>
          <p:cNvSpPr>
            <a:spLocks noGrp="1"/>
          </p:cNvSpPr>
          <p:nvPr>
            <p:ph type="ftr" sz="quarter" idx="11"/>
          </p:nvPr>
        </p:nvSpPr>
        <p:spPr/>
        <p:txBody>
          <a:bodyPr/>
          <a:lstStyle/>
          <a:p>
            <a:r>
              <a:rPr lang="en-US"/>
              <a:t>2nd year IAP presentation - bacth name</a:t>
            </a:r>
            <a:endParaRPr lang="en-IN"/>
          </a:p>
        </p:txBody>
      </p:sp>
      <p:sp>
        <p:nvSpPr>
          <p:cNvPr id="9" name="Slide Number Placeholder 8">
            <a:extLst>
              <a:ext uri="{FF2B5EF4-FFF2-40B4-BE49-F238E27FC236}">
                <a16:creationId xmlns:a16="http://schemas.microsoft.com/office/drawing/2014/main" id="{FCD2F5E6-7969-A36D-3F5B-F029906416AC}"/>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2395479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2FCA5-41E5-EABD-5E95-AB1FD720379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6C7489-CDF6-595C-2BD2-A0F379D502B7}"/>
              </a:ext>
            </a:extLst>
          </p:cNvPr>
          <p:cNvSpPr>
            <a:spLocks noGrp="1"/>
          </p:cNvSpPr>
          <p:nvPr>
            <p:ph type="dt" sz="half" idx="10"/>
          </p:nvPr>
        </p:nvSpPr>
        <p:spPr/>
        <p:txBody>
          <a:bodyPr/>
          <a:lstStyle/>
          <a:p>
            <a:fld id="{CD501563-46D5-4210-BFAE-B68A395F657E}" type="datetime1">
              <a:rPr lang="en-IN" smtClean="0"/>
              <a:t>05-07-2026</a:t>
            </a:fld>
            <a:endParaRPr lang="en-IN"/>
          </a:p>
        </p:txBody>
      </p:sp>
      <p:sp>
        <p:nvSpPr>
          <p:cNvPr id="4" name="Footer Placeholder 3">
            <a:extLst>
              <a:ext uri="{FF2B5EF4-FFF2-40B4-BE49-F238E27FC236}">
                <a16:creationId xmlns:a16="http://schemas.microsoft.com/office/drawing/2014/main" id="{36D3AAA4-84BB-C988-8618-4C8B6F0DEDD0}"/>
              </a:ext>
            </a:extLst>
          </p:cNvPr>
          <p:cNvSpPr>
            <a:spLocks noGrp="1"/>
          </p:cNvSpPr>
          <p:nvPr>
            <p:ph type="ftr" sz="quarter" idx="11"/>
          </p:nvPr>
        </p:nvSpPr>
        <p:spPr/>
        <p:txBody>
          <a:bodyPr/>
          <a:lstStyle/>
          <a:p>
            <a:r>
              <a:rPr lang="en-US"/>
              <a:t>2nd year IAP presentation - bacth name</a:t>
            </a:r>
            <a:endParaRPr lang="en-IN"/>
          </a:p>
        </p:txBody>
      </p:sp>
      <p:sp>
        <p:nvSpPr>
          <p:cNvPr id="5" name="Slide Number Placeholder 4">
            <a:extLst>
              <a:ext uri="{FF2B5EF4-FFF2-40B4-BE49-F238E27FC236}">
                <a16:creationId xmlns:a16="http://schemas.microsoft.com/office/drawing/2014/main" id="{6EDCB1CC-30F9-91AC-32FD-4D78A5A7125F}"/>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199771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B86BA-4C83-F252-3708-EB76EEBDC769}"/>
              </a:ext>
            </a:extLst>
          </p:cNvPr>
          <p:cNvSpPr>
            <a:spLocks noGrp="1"/>
          </p:cNvSpPr>
          <p:nvPr>
            <p:ph type="dt" sz="half" idx="10"/>
          </p:nvPr>
        </p:nvSpPr>
        <p:spPr/>
        <p:txBody>
          <a:bodyPr/>
          <a:lstStyle/>
          <a:p>
            <a:fld id="{2183601E-436F-4135-8A34-53E6638ED9B9}" type="datetime1">
              <a:rPr lang="en-IN" smtClean="0"/>
              <a:t>05-07-2026</a:t>
            </a:fld>
            <a:endParaRPr lang="en-IN"/>
          </a:p>
        </p:txBody>
      </p:sp>
      <p:sp>
        <p:nvSpPr>
          <p:cNvPr id="3" name="Footer Placeholder 2">
            <a:extLst>
              <a:ext uri="{FF2B5EF4-FFF2-40B4-BE49-F238E27FC236}">
                <a16:creationId xmlns:a16="http://schemas.microsoft.com/office/drawing/2014/main" id="{30386873-27D7-460A-1D06-FB0A7741FC27}"/>
              </a:ext>
            </a:extLst>
          </p:cNvPr>
          <p:cNvSpPr>
            <a:spLocks noGrp="1"/>
          </p:cNvSpPr>
          <p:nvPr>
            <p:ph type="ftr" sz="quarter" idx="11"/>
          </p:nvPr>
        </p:nvSpPr>
        <p:spPr/>
        <p:txBody>
          <a:bodyPr/>
          <a:lstStyle/>
          <a:p>
            <a:r>
              <a:rPr lang="en-US"/>
              <a:t>2nd year IAP presentation - bacth name</a:t>
            </a:r>
            <a:endParaRPr lang="en-IN"/>
          </a:p>
        </p:txBody>
      </p:sp>
      <p:sp>
        <p:nvSpPr>
          <p:cNvPr id="4" name="Slide Number Placeholder 3">
            <a:extLst>
              <a:ext uri="{FF2B5EF4-FFF2-40B4-BE49-F238E27FC236}">
                <a16:creationId xmlns:a16="http://schemas.microsoft.com/office/drawing/2014/main" id="{BB42D30E-DC97-9BD9-8CA6-E846A0AE4465}"/>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1957576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AB382-066A-99B1-CE71-8DCC8F3282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CC0701C-61EA-F87F-0B47-83F9401F55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D2E204-0FE1-C402-24B2-42DCCE11E9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87CC9C-D0F3-77C4-56BD-C2721738CF60}"/>
              </a:ext>
            </a:extLst>
          </p:cNvPr>
          <p:cNvSpPr>
            <a:spLocks noGrp="1"/>
          </p:cNvSpPr>
          <p:nvPr>
            <p:ph type="dt" sz="half" idx="10"/>
          </p:nvPr>
        </p:nvSpPr>
        <p:spPr/>
        <p:txBody>
          <a:bodyPr/>
          <a:lstStyle/>
          <a:p>
            <a:fld id="{6C8CDFB6-927E-4A23-BCD6-484BC90EE377}" type="datetime1">
              <a:rPr lang="en-IN" smtClean="0"/>
              <a:t>05-07-2026</a:t>
            </a:fld>
            <a:endParaRPr lang="en-IN"/>
          </a:p>
        </p:txBody>
      </p:sp>
      <p:sp>
        <p:nvSpPr>
          <p:cNvPr id="6" name="Footer Placeholder 5">
            <a:extLst>
              <a:ext uri="{FF2B5EF4-FFF2-40B4-BE49-F238E27FC236}">
                <a16:creationId xmlns:a16="http://schemas.microsoft.com/office/drawing/2014/main" id="{0E89FB35-EED9-8211-3291-27DCADA1125C}"/>
              </a:ext>
            </a:extLst>
          </p:cNvPr>
          <p:cNvSpPr>
            <a:spLocks noGrp="1"/>
          </p:cNvSpPr>
          <p:nvPr>
            <p:ph type="ftr" sz="quarter" idx="11"/>
          </p:nvPr>
        </p:nvSpPr>
        <p:spPr/>
        <p:txBody>
          <a:bodyPr/>
          <a:lstStyle/>
          <a:p>
            <a:r>
              <a:rPr lang="en-US"/>
              <a:t>2nd year IAP presentation - bacth name</a:t>
            </a:r>
            <a:endParaRPr lang="en-IN"/>
          </a:p>
        </p:txBody>
      </p:sp>
      <p:sp>
        <p:nvSpPr>
          <p:cNvPr id="7" name="Slide Number Placeholder 6">
            <a:extLst>
              <a:ext uri="{FF2B5EF4-FFF2-40B4-BE49-F238E27FC236}">
                <a16:creationId xmlns:a16="http://schemas.microsoft.com/office/drawing/2014/main" id="{37E55349-3EBF-82A2-E12D-A4F03079740B}"/>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1922017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0ED2-FDA9-067C-9A8C-DFD120E875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AFCC956-5CC0-3AB2-B297-338E3A4CA9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5EFB38F-C02F-999F-FAF9-4361C12208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0460CD-FEFD-5AB2-B6B0-53EB34EE3A65}"/>
              </a:ext>
            </a:extLst>
          </p:cNvPr>
          <p:cNvSpPr>
            <a:spLocks noGrp="1"/>
          </p:cNvSpPr>
          <p:nvPr>
            <p:ph type="dt" sz="half" idx="10"/>
          </p:nvPr>
        </p:nvSpPr>
        <p:spPr/>
        <p:txBody>
          <a:bodyPr/>
          <a:lstStyle/>
          <a:p>
            <a:fld id="{B9EE8DBB-977E-4747-8735-39C10495F9DE}" type="datetime1">
              <a:rPr lang="en-IN" smtClean="0"/>
              <a:t>05-07-2026</a:t>
            </a:fld>
            <a:endParaRPr lang="en-IN"/>
          </a:p>
        </p:txBody>
      </p:sp>
      <p:sp>
        <p:nvSpPr>
          <p:cNvPr id="6" name="Footer Placeholder 5">
            <a:extLst>
              <a:ext uri="{FF2B5EF4-FFF2-40B4-BE49-F238E27FC236}">
                <a16:creationId xmlns:a16="http://schemas.microsoft.com/office/drawing/2014/main" id="{FA09A8E3-0F0A-CE91-0DFD-E1F6A0ABC7DA}"/>
              </a:ext>
            </a:extLst>
          </p:cNvPr>
          <p:cNvSpPr>
            <a:spLocks noGrp="1"/>
          </p:cNvSpPr>
          <p:nvPr>
            <p:ph type="ftr" sz="quarter" idx="11"/>
          </p:nvPr>
        </p:nvSpPr>
        <p:spPr/>
        <p:txBody>
          <a:bodyPr/>
          <a:lstStyle/>
          <a:p>
            <a:r>
              <a:rPr lang="en-US"/>
              <a:t>2nd year IAP presentation - bacth name</a:t>
            </a:r>
            <a:endParaRPr lang="en-IN"/>
          </a:p>
        </p:txBody>
      </p:sp>
      <p:sp>
        <p:nvSpPr>
          <p:cNvPr id="7" name="Slide Number Placeholder 6">
            <a:extLst>
              <a:ext uri="{FF2B5EF4-FFF2-40B4-BE49-F238E27FC236}">
                <a16:creationId xmlns:a16="http://schemas.microsoft.com/office/drawing/2014/main" id="{876B55D3-D6C3-AA93-0D45-121688A1F060}"/>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1025119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CD64E-1049-E755-04BA-9044AD3BA4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D006E2-6C52-4B8C-918D-34891177A1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90C7A5-40F5-F365-7C21-275CAB9BE5BD}"/>
              </a:ext>
            </a:extLst>
          </p:cNvPr>
          <p:cNvSpPr>
            <a:spLocks noGrp="1"/>
          </p:cNvSpPr>
          <p:nvPr>
            <p:ph type="dt" sz="half" idx="10"/>
          </p:nvPr>
        </p:nvSpPr>
        <p:spPr/>
        <p:txBody>
          <a:bodyPr/>
          <a:lstStyle/>
          <a:p>
            <a:fld id="{84C91EE1-081B-4263-B787-73C541004CC2}" type="datetime1">
              <a:rPr lang="en-IN" smtClean="0"/>
              <a:t>05-07-2026</a:t>
            </a:fld>
            <a:endParaRPr lang="en-IN"/>
          </a:p>
        </p:txBody>
      </p:sp>
      <p:sp>
        <p:nvSpPr>
          <p:cNvPr id="5" name="Footer Placeholder 4">
            <a:extLst>
              <a:ext uri="{FF2B5EF4-FFF2-40B4-BE49-F238E27FC236}">
                <a16:creationId xmlns:a16="http://schemas.microsoft.com/office/drawing/2014/main" id="{D30DCF31-8D8F-03D8-DD84-6DF0EA6744B5}"/>
              </a:ext>
            </a:extLst>
          </p:cNvPr>
          <p:cNvSpPr>
            <a:spLocks noGrp="1"/>
          </p:cNvSpPr>
          <p:nvPr>
            <p:ph type="ftr" sz="quarter" idx="11"/>
          </p:nvPr>
        </p:nvSpPr>
        <p:spPr/>
        <p:txBody>
          <a:bodyPr/>
          <a:lstStyle/>
          <a:p>
            <a:r>
              <a:rPr lang="en-US"/>
              <a:t>2nd year IAP presentation - bacth name</a:t>
            </a:r>
            <a:endParaRPr lang="en-IN"/>
          </a:p>
        </p:txBody>
      </p:sp>
      <p:sp>
        <p:nvSpPr>
          <p:cNvPr id="6" name="Slide Number Placeholder 5">
            <a:extLst>
              <a:ext uri="{FF2B5EF4-FFF2-40B4-BE49-F238E27FC236}">
                <a16:creationId xmlns:a16="http://schemas.microsoft.com/office/drawing/2014/main" id="{E8022E52-3B37-6711-EF3A-59C6803B3618}"/>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2188593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024CD5-0B17-7C10-8857-459C84DCC39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32CE4E-B2DB-E436-7364-AF2C44D4B4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8AFF2D-3D87-9052-89BC-08DB726CECA4}"/>
              </a:ext>
            </a:extLst>
          </p:cNvPr>
          <p:cNvSpPr>
            <a:spLocks noGrp="1"/>
          </p:cNvSpPr>
          <p:nvPr>
            <p:ph type="dt" sz="half" idx="10"/>
          </p:nvPr>
        </p:nvSpPr>
        <p:spPr/>
        <p:txBody>
          <a:bodyPr/>
          <a:lstStyle/>
          <a:p>
            <a:fld id="{68C49FEC-44B1-4C22-BA67-119EF489A5E6}" type="datetime1">
              <a:rPr lang="en-IN" smtClean="0"/>
              <a:t>05-07-2026</a:t>
            </a:fld>
            <a:endParaRPr lang="en-IN"/>
          </a:p>
        </p:txBody>
      </p:sp>
      <p:sp>
        <p:nvSpPr>
          <p:cNvPr id="5" name="Footer Placeholder 4">
            <a:extLst>
              <a:ext uri="{FF2B5EF4-FFF2-40B4-BE49-F238E27FC236}">
                <a16:creationId xmlns:a16="http://schemas.microsoft.com/office/drawing/2014/main" id="{50EAD2DC-3F77-23E9-9F98-A5C84E0F7104}"/>
              </a:ext>
            </a:extLst>
          </p:cNvPr>
          <p:cNvSpPr>
            <a:spLocks noGrp="1"/>
          </p:cNvSpPr>
          <p:nvPr>
            <p:ph type="ftr" sz="quarter" idx="11"/>
          </p:nvPr>
        </p:nvSpPr>
        <p:spPr/>
        <p:txBody>
          <a:bodyPr/>
          <a:lstStyle/>
          <a:p>
            <a:r>
              <a:rPr lang="en-US"/>
              <a:t>2nd year IAP presentation - bacth name</a:t>
            </a:r>
            <a:endParaRPr lang="en-IN"/>
          </a:p>
        </p:txBody>
      </p:sp>
      <p:sp>
        <p:nvSpPr>
          <p:cNvPr id="6" name="Slide Number Placeholder 5">
            <a:extLst>
              <a:ext uri="{FF2B5EF4-FFF2-40B4-BE49-F238E27FC236}">
                <a16:creationId xmlns:a16="http://schemas.microsoft.com/office/drawing/2014/main" id="{7585BE88-BA48-8AB5-C535-5C825862BCC0}"/>
              </a:ext>
            </a:extLst>
          </p:cNvPr>
          <p:cNvSpPr>
            <a:spLocks noGrp="1"/>
          </p:cNvSpPr>
          <p:nvPr>
            <p:ph type="sldNum" sz="quarter" idx="12"/>
          </p:nvPr>
        </p:nvSpPr>
        <p:spPr/>
        <p:txBody>
          <a:bodyPr/>
          <a:lstStyle/>
          <a:p>
            <a:fld id="{A6852EF5-E209-44DD-8717-2E23B9E72C35}" type="slidenum">
              <a:rPr lang="en-IN" smtClean="0"/>
              <a:t>‹#›</a:t>
            </a:fld>
            <a:endParaRPr lang="en-IN"/>
          </a:p>
        </p:txBody>
      </p:sp>
    </p:spTree>
    <p:extLst>
      <p:ext uri="{BB962C8B-B14F-4D97-AF65-F5344CB8AC3E}">
        <p14:creationId xmlns:p14="http://schemas.microsoft.com/office/powerpoint/2010/main" val="3117999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450D9A-0FD1-FD99-E14E-80E2B9281C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358FC4-01C9-1FDA-6CE9-C99F6E5903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D3AB9B-BB78-03AD-BF9C-372C4EB6CB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39AA66-D62E-4601-9958-764EE0D0431E}" type="datetime1">
              <a:rPr lang="en-IN" smtClean="0"/>
              <a:t>05-07-2026</a:t>
            </a:fld>
            <a:endParaRPr lang="en-IN"/>
          </a:p>
        </p:txBody>
      </p:sp>
      <p:sp>
        <p:nvSpPr>
          <p:cNvPr id="5" name="Footer Placeholder 4">
            <a:extLst>
              <a:ext uri="{FF2B5EF4-FFF2-40B4-BE49-F238E27FC236}">
                <a16:creationId xmlns:a16="http://schemas.microsoft.com/office/drawing/2014/main" id="{CC188C22-D148-35A8-5383-0F4D7C3DB4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2nd year IAP presentation - bacth name</a:t>
            </a:r>
            <a:endParaRPr lang="en-IN"/>
          </a:p>
        </p:txBody>
      </p:sp>
      <p:sp>
        <p:nvSpPr>
          <p:cNvPr id="6" name="Slide Number Placeholder 5">
            <a:extLst>
              <a:ext uri="{FF2B5EF4-FFF2-40B4-BE49-F238E27FC236}">
                <a16:creationId xmlns:a16="http://schemas.microsoft.com/office/drawing/2014/main" id="{B38EFF92-D33B-6041-64A9-0A6CB0D325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852EF5-E209-44DD-8717-2E23B9E72C35}" type="slidenum">
              <a:rPr lang="en-IN" smtClean="0"/>
              <a:t>‹#›</a:t>
            </a:fld>
            <a:endParaRPr lang="en-IN"/>
          </a:p>
        </p:txBody>
      </p:sp>
    </p:spTree>
    <p:extLst>
      <p:ext uri="{BB962C8B-B14F-4D97-AF65-F5344CB8AC3E}">
        <p14:creationId xmlns:p14="http://schemas.microsoft.com/office/powerpoint/2010/main" val="424847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CB890-F179-204A-39D9-16387CCCCCAF}"/>
              </a:ext>
            </a:extLst>
          </p:cNvPr>
          <p:cNvSpPr>
            <a:spLocks noGrp="1"/>
          </p:cNvSpPr>
          <p:nvPr>
            <p:ph type="ctrTitle"/>
          </p:nvPr>
        </p:nvSpPr>
        <p:spPr>
          <a:xfrm>
            <a:off x="1111044" y="2204114"/>
            <a:ext cx="9144000" cy="1258289"/>
          </a:xfrm>
        </p:spPr>
        <p:txBody>
          <a:bodyPr>
            <a:normAutofit/>
          </a:bodyPr>
          <a:lstStyle/>
          <a:p>
            <a:r>
              <a:rPr lang="en-US" sz="2400" dirty="0">
                <a:latin typeface="Times New Roman" panose="02020603050405020304" pitchFamily="18" charset="0"/>
                <a:cs typeface="Times New Roman" panose="02020603050405020304" pitchFamily="18" charset="0"/>
              </a:rPr>
              <a:t>Smart LPG gas level monitoring system using load cell sensor</a:t>
            </a:r>
            <a:br>
              <a:rPr lang="en-US" sz="2400" dirty="0"/>
            </a:br>
            <a:endParaRPr lang="en-IN" sz="2400" dirty="0"/>
          </a:p>
        </p:txBody>
      </p:sp>
      <p:sp>
        <p:nvSpPr>
          <p:cNvPr id="4" name="Title 1">
            <a:extLst>
              <a:ext uri="{FF2B5EF4-FFF2-40B4-BE49-F238E27FC236}">
                <a16:creationId xmlns:a16="http://schemas.microsoft.com/office/drawing/2014/main" id="{F3E17364-966D-55BF-1BAA-CDDC033CCCA1}"/>
              </a:ext>
            </a:extLst>
          </p:cNvPr>
          <p:cNvSpPr txBox="1">
            <a:spLocks/>
          </p:cNvSpPr>
          <p:nvPr/>
        </p:nvSpPr>
        <p:spPr>
          <a:xfrm>
            <a:off x="335902" y="3303037"/>
            <a:ext cx="3852640" cy="281754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t>Team Member:</a:t>
            </a:r>
            <a:r>
              <a:rPr lang="en-US" dirty="0"/>
              <a:t> </a:t>
            </a:r>
          </a:p>
          <a:p>
            <a:pPr algn="l"/>
            <a:r>
              <a:rPr lang="en-US" sz="1800" dirty="0"/>
              <a:t>   </a:t>
            </a:r>
            <a:r>
              <a:rPr lang="en-US" sz="1800" dirty="0" err="1"/>
              <a:t>Keerthana.T</a:t>
            </a:r>
            <a:endParaRPr lang="en-US" sz="1800" dirty="0"/>
          </a:p>
          <a:p>
            <a:endParaRPr lang="en-IN" dirty="0"/>
          </a:p>
        </p:txBody>
      </p:sp>
      <p:sp>
        <p:nvSpPr>
          <p:cNvPr id="5" name="Title 1">
            <a:extLst>
              <a:ext uri="{FF2B5EF4-FFF2-40B4-BE49-F238E27FC236}">
                <a16:creationId xmlns:a16="http://schemas.microsoft.com/office/drawing/2014/main" id="{DE961D6A-4624-1AA1-A4F9-12D44D7564FF}"/>
              </a:ext>
            </a:extLst>
          </p:cNvPr>
          <p:cNvSpPr txBox="1">
            <a:spLocks/>
          </p:cNvSpPr>
          <p:nvPr/>
        </p:nvSpPr>
        <p:spPr>
          <a:xfrm>
            <a:off x="7211961" y="3698173"/>
            <a:ext cx="5043948" cy="158716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t>Mentor Name :</a:t>
            </a:r>
            <a:endParaRPr lang="en-IN" sz="3200" dirty="0"/>
          </a:p>
          <a:p>
            <a:pPr algn="l"/>
            <a:r>
              <a:rPr lang="en-IN" sz="2000" dirty="0" err="1"/>
              <a:t>B.Maheshwari</a:t>
            </a:r>
            <a:endParaRPr lang="en-IN" sz="2000" dirty="0"/>
          </a:p>
        </p:txBody>
      </p:sp>
      <p:sp>
        <p:nvSpPr>
          <p:cNvPr id="6" name="Footer Placeholder 5">
            <a:extLst>
              <a:ext uri="{FF2B5EF4-FFF2-40B4-BE49-F238E27FC236}">
                <a16:creationId xmlns:a16="http://schemas.microsoft.com/office/drawing/2014/main" id="{3832497D-5234-935E-3006-E7F7CEDD90B1}"/>
              </a:ext>
            </a:extLst>
          </p:cNvPr>
          <p:cNvSpPr>
            <a:spLocks noGrp="1"/>
          </p:cNvSpPr>
          <p:nvPr>
            <p:ph type="ftr" sz="quarter" idx="11"/>
          </p:nvPr>
        </p:nvSpPr>
        <p:spPr/>
        <p:txBody>
          <a:bodyPr/>
          <a:lstStyle/>
          <a:p>
            <a:r>
              <a:rPr lang="en-US"/>
              <a:t>2nd year IAP presentation - bacth name</a:t>
            </a:r>
            <a:endParaRPr lang="en-IN"/>
          </a:p>
        </p:txBody>
      </p:sp>
      <p:pic>
        <p:nvPicPr>
          <p:cNvPr id="3" name="Picture 2">
            <a:extLst>
              <a:ext uri="{FF2B5EF4-FFF2-40B4-BE49-F238E27FC236}">
                <a16:creationId xmlns:a16="http://schemas.microsoft.com/office/drawing/2014/main" id="{482F42A8-F51E-1071-A3E4-8E34674AA404}"/>
              </a:ext>
            </a:extLst>
          </p:cNvPr>
          <p:cNvPicPr>
            <a:picLocks noChangeAspect="1"/>
          </p:cNvPicPr>
          <p:nvPr/>
        </p:nvPicPr>
        <p:blipFill>
          <a:blip r:embed="rId2" cstate="print"/>
          <a:stretch>
            <a:fillRect/>
          </a:stretch>
        </p:blipFill>
        <p:spPr>
          <a:xfrm>
            <a:off x="1950319" y="136525"/>
            <a:ext cx="7783616" cy="1527765"/>
          </a:xfrm>
          <a:prstGeom prst="rect">
            <a:avLst/>
          </a:prstGeom>
        </p:spPr>
      </p:pic>
    </p:spTree>
    <p:extLst>
      <p:ext uri="{BB962C8B-B14F-4D97-AF65-F5344CB8AC3E}">
        <p14:creationId xmlns:p14="http://schemas.microsoft.com/office/powerpoint/2010/main" val="3843598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FAA2B5-6184-4E60-91BC-24EEC211F619}"/>
              </a:ext>
            </a:extLst>
          </p:cNvPr>
          <p:cNvSpPr>
            <a:spLocks noGrp="1"/>
          </p:cNvSpPr>
          <p:nvPr>
            <p:ph type="ctrTitle"/>
          </p:nvPr>
        </p:nvSpPr>
        <p:spPr>
          <a:xfrm>
            <a:off x="181896" y="207963"/>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Objective</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6157FFB-AEC2-64D4-63E6-712F6A2BE41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sp>
        <p:nvSpPr>
          <p:cNvPr id="10" name="TextBox 9"/>
          <p:cNvSpPr txBox="1"/>
          <p:nvPr/>
        </p:nvSpPr>
        <p:spPr>
          <a:xfrm>
            <a:off x="257577" y="1460311"/>
            <a:ext cx="9337184" cy="2585323"/>
          </a:xfrm>
          <a:prstGeom prst="rect">
            <a:avLst/>
          </a:prstGeom>
          <a:noFill/>
        </p:spPr>
        <p:txBody>
          <a:bodyPr wrap="square" rtlCol="0">
            <a:spAutoFit/>
          </a:bodyPr>
          <a:lstStyle/>
          <a:p>
            <a:pPr marL="285750" indent="-285750">
              <a:buFont typeface="Arial" charset="0"/>
              <a:buChar char="•"/>
            </a:pPr>
            <a:r>
              <a:rPr lang="en-GB" dirty="0"/>
              <a:t>The objective of the project is focused on the automation of LPG gas detection</a:t>
            </a:r>
          </a:p>
          <a:p>
            <a:pPr marL="285750" indent="-285750">
              <a:buFont typeface="Arial" charset="0"/>
              <a:buChar char="•"/>
            </a:pPr>
            <a:r>
              <a:rPr lang="en-GB" dirty="0"/>
              <a:t>To design and implement a robust system capable of accurately measuring the quantity of LPG gas within the  tanks or containers.</a:t>
            </a:r>
          </a:p>
          <a:p>
            <a:pPr marL="285750" indent="-285750">
              <a:buFont typeface="Arial" charset="0"/>
              <a:buChar char="•"/>
            </a:pPr>
            <a:r>
              <a:rPr lang="en-GB" dirty="0"/>
              <a:t>Through the utilization of advanced technologies such as a load cell sensors and data processing algorithms.</a:t>
            </a:r>
          </a:p>
          <a:p>
            <a:pPr marL="285750" indent="-285750">
              <a:buFont typeface="Arial" charset="0"/>
              <a:buChar char="•"/>
            </a:pPr>
            <a:r>
              <a:rPr lang="en-GB" dirty="0"/>
              <a:t>The project aims to ensure precise monitoring of gas levels</a:t>
            </a:r>
          </a:p>
          <a:p>
            <a:pPr marL="285750" indent="-285750">
              <a:buFont typeface="Arial" charset="0"/>
              <a:buChar char="•"/>
            </a:pPr>
            <a:r>
              <a:rPr lang="en-GB" dirty="0"/>
              <a:t>The project to optimize the efficiency and reliability of </a:t>
            </a:r>
            <a:r>
              <a:rPr lang="en-GB" dirty="0" err="1"/>
              <a:t>Lpg</a:t>
            </a:r>
            <a:r>
              <a:rPr lang="en-GB" dirty="0"/>
              <a:t>  gas level both </a:t>
            </a:r>
            <a:r>
              <a:rPr lang="en-GB" dirty="0" err="1"/>
              <a:t>residental</a:t>
            </a:r>
            <a:r>
              <a:rPr lang="en-GB" dirty="0"/>
              <a:t>  and catering  to both </a:t>
            </a:r>
            <a:r>
              <a:rPr lang="en-GB" dirty="0" err="1"/>
              <a:t>residental</a:t>
            </a:r>
            <a:r>
              <a:rPr lang="en-GB" dirty="0"/>
              <a:t> and industrial applications with a focus on enhancing safety and convenience.</a:t>
            </a:r>
          </a:p>
        </p:txBody>
      </p:sp>
    </p:spTree>
    <p:extLst>
      <p:ext uri="{BB962C8B-B14F-4D97-AF65-F5344CB8AC3E}">
        <p14:creationId xmlns:p14="http://schemas.microsoft.com/office/powerpoint/2010/main" val="4202171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FAA2B5-6184-4E60-91BC-24EEC211F619}"/>
              </a:ext>
            </a:extLst>
          </p:cNvPr>
          <p:cNvSpPr>
            <a:spLocks noGrp="1"/>
          </p:cNvSpPr>
          <p:nvPr>
            <p:ph type="ctrTitle"/>
          </p:nvPr>
        </p:nvSpPr>
        <p:spPr>
          <a:xfrm>
            <a:off x="181896" y="207963"/>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54C50A5-CEDA-0FEC-AD96-69F0BA57B71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sp>
        <p:nvSpPr>
          <p:cNvPr id="3" name="TextBox 2"/>
          <p:cNvSpPr txBox="1"/>
          <p:nvPr/>
        </p:nvSpPr>
        <p:spPr>
          <a:xfrm>
            <a:off x="592428" y="1460311"/>
            <a:ext cx="8950817" cy="923330"/>
          </a:xfrm>
          <a:prstGeom prst="rect">
            <a:avLst/>
          </a:prstGeom>
          <a:noFill/>
        </p:spPr>
        <p:txBody>
          <a:bodyPr wrap="square" rtlCol="0">
            <a:spAutoFit/>
          </a:bodyPr>
          <a:lstStyle/>
          <a:p>
            <a:pPr marL="285750" indent="-285750">
              <a:buFont typeface="Arial" charset="0"/>
              <a:buChar char="•"/>
            </a:pPr>
            <a:r>
              <a:rPr lang="en-GB" dirty="0"/>
              <a:t>The problem statement : Develop a system to measure the LPG( liquefied petroleum gas) usage accurately , the system should provide real-time data on gas consumption , enabling users to monitor usage patterns and manage refills efficiently.</a:t>
            </a:r>
          </a:p>
        </p:txBody>
      </p:sp>
    </p:spTree>
    <p:extLst>
      <p:ext uri="{BB962C8B-B14F-4D97-AF65-F5344CB8AC3E}">
        <p14:creationId xmlns:p14="http://schemas.microsoft.com/office/powerpoint/2010/main" val="767260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4BEF4-32FB-7F96-5D2F-CB83C0557B5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CA4738-B191-E7F6-8EB0-EF08DE6DEEC4}"/>
              </a:ext>
            </a:extLst>
          </p:cNvPr>
          <p:cNvSpPr>
            <a:spLocks noGrp="1"/>
          </p:cNvSpPr>
          <p:nvPr>
            <p:ph type="ctrTitle"/>
          </p:nvPr>
        </p:nvSpPr>
        <p:spPr>
          <a:xfrm>
            <a:off x="181896" y="207963"/>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Proposed Solution</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4D30F91-B32E-9FAB-EC26-D0149845EA8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sp>
        <p:nvSpPr>
          <p:cNvPr id="10" name="TextBox 9"/>
          <p:cNvSpPr txBox="1"/>
          <p:nvPr/>
        </p:nvSpPr>
        <p:spPr>
          <a:xfrm>
            <a:off x="424070" y="2093843"/>
            <a:ext cx="8441634" cy="2308324"/>
          </a:xfrm>
          <a:prstGeom prst="rect">
            <a:avLst/>
          </a:prstGeom>
          <a:noFill/>
        </p:spPr>
        <p:txBody>
          <a:bodyPr wrap="square" rtlCol="0">
            <a:spAutoFit/>
          </a:bodyPr>
          <a:lstStyle/>
          <a:p>
            <a:pPr marL="285750" indent="-285750">
              <a:buFont typeface="Arial" charset="0"/>
              <a:buChar char="•"/>
            </a:pPr>
            <a:r>
              <a:rPr lang="en-GB" dirty="0"/>
              <a:t>First , we can use a load cell sensor to measuring the amount of LPG gas level.</a:t>
            </a:r>
          </a:p>
          <a:p>
            <a:pPr marL="285750" indent="-285750">
              <a:buFont typeface="Arial" charset="0"/>
              <a:buChar char="•"/>
            </a:pPr>
            <a:r>
              <a:rPr lang="en-GB" dirty="0"/>
              <a:t>The LPG gas level can be detected to using the load cell sensor and HX 711 ,LCD display with 12c.</a:t>
            </a:r>
          </a:p>
          <a:p>
            <a:pPr marL="285750" indent="-285750">
              <a:buFont typeface="Arial" charset="0"/>
              <a:buChar char="•"/>
            </a:pPr>
            <a:r>
              <a:rPr lang="en-GB" dirty="0"/>
              <a:t>First we set the </a:t>
            </a:r>
            <a:r>
              <a:rPr lang="en-GB" dirty="0" err="1"/>
              <a:t>loadcell</a:t>
            </a:r>
            <a:r>
              <a:rPr lang="en-GB" dirty="0"/>
              <a:t> on LPG gas cylinder bottom and then the load cell sensor will be connected to the HX 711 </a:t>
            </a:r>
            <a:r>
              <a:rPr lang="en-GB" dirty="0" err="1"/>
              <a:t>arduino</a:t>
            </a:r>
            <a:r>
              <a:rPr lang="en-GB" dirty="0"/>
              <a:t> board and we have to do the coding for </a:t>
            </a:r>
            <a:r>
              <a:rPr lang="en-GB" dirty="0" err="1"/>
              <a:t>arduino</a:t>
            </a:r>
            <a:r>
              <a:rPr lang="en-GB" dirty="0"/>
              <a:t> board and they the HX 711 will be connect to  LCD display with 12c and finally display the amount of gas level.</a:t>
            </a:r>
          </a:p>
          <a:p>
            <a:pPr marL="285750" indent="-285750">
              <a:buFont typeface="Arial" charset="0"/>
              <a:buChar char="•"/>
            </a:pPr>
            <a:r>
              <a:rPr lang="en-GB" dirty="0"/>
              <a:t>This is one of the best solution of detect the Gas level.</a:t>
            </a:r>
          </a:p>
        </p:txBody>
      </p:sp>
    </p:spTree>
    <p:extLst>
      <p:ext uri="{BB962C8B-B14F-4D97-AF65-F5344CB8AC3E}">
        <p14:creationId xmlns:p14="http://schemas.microsoft.com/office/powerpoint/2010/main" val="3647183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FAA2B5-6184-4E60-91BC-24EEC211F619}"/>
              </a:ext>
            </a:extLst>
          </p:cNvPr>
          <p:cNvSpPr>
            <a:spLocks noGrp="1"/>
          </p:cNvSpPr>
          <p:nvPr>
            <p:ph type="ctrTitle"/>
          </p:nvPr>
        </p:nvSpPr>
        <p:spPr>
          <a:xfrm>
            <a:off x="181896" y="207963"/>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Literature Survey 1</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70C7BB0-DBBE-88F4-7381-0F8612DC51F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sp>
        <p:nvSpPr>
          <p:cNvPr id="3" name="TextBox 2"/>
          <p:cNvSpPr txBox="1"/>
          <p:nvPr/>
        </p:nvSpPr>
        <p:spPr>
          <a:xfrm>
            <a:off x="463826" y="1577009"/>
            <a:ext cx="10033399" cy="3693319"/>
          </a:xfrm>
          <a:prstGeom prst="rect">
            <a:avLst/>
          </a:prstGeom>
          <a:noFill/>
        </p:spPr>
        <p:txBody>
          <a:bodyPr wrap="square" rtlCol="0">
            <a:spAutoFit/>
          </a:bodyPr>
          <a:lstStyle/>
          <a:p>
            <a:r>
              <a:rPr lang="en-GB" dirty="0"/>
              <a:t>The automation of Liquefied Petroleum Gas (LPG) gas level detection in home appliances presents a significant advancement in ensuring safety and efficiency in residential environments. This abstract outlines the key aspects and benefits of integrating smart technology for monitoring LPG gas levels within household </a:t>
            </a:r>
            <a:r>
              <a:rPr lang="en-GB" dirty="0" err="1"/>
              <a:t>appliances.Traditional</a:t>
            </a:r>
            <a:r>
              <a:rPr lang="en-GB" dirty="0"/>
              <a:t> methods of LPG gas level monitoring often rely on manual checks or rudimentary gauges, which can be cumbersome and prone to human error. Moreover, inaccurate readings or oversight in monitoring can lead to potentially hazardous situations such as gas leaks or depleted fuel supply, posing serious risks to inhabitants and </a:t>
            </a:r>
            <a:r>
              <a:rPr lang="en-GB" dirty="0" err="1"/>
              <a:t>property.The</a:t>
            </a:r>
            <a:r>
              <a:rPr lang="en-GB" dirty="0"/>
              <a:t> proposed solution leverages automation technology to streamline the process of monitoring LPG gas levels in home appliances. By integrating sensors and Microcontroller </a:t>
            </a:r>
            <a:r>
              <a:rPr lang="en-GB" dirty="0" err="1"/>
              <a:t>Aurdino</a:t>
            </a:r>
            <a:r>
              <a:rPr lang="en-GB" dirty="0"/>
              <a:t> connectivity, these appliances can continuously monitor gas levels in real-time. The data obtained from these sensors can be transmitted to a centralized control system or directly to users' smartphones, providing timely alerts and notifications regarding gas levels. This abstract underscores the significance of automation in LPG gas level detection within home appliances, emphasizing its role in enhancing safety, efficiency, and user experience in residential settings. </a:t>
            </a:r>
          </a:p>
        </p:txBody>
      </p:sp>
      <p:sp>
        <p:nvSpPr>
          <p:cNvPr id="4" name="TextBox 3"/>
          <p:cNvSpPr txBox="1"/>
          <p:nvPr/>
        </p:nvSpPr>
        <p:spPr>
          <a:xfrm>
            <a:off x="583096" y="1285461"/>
            <a:ext cx="1484243" cy="646331"/>
          </a:xfrm>
          <a:prstGeom prst="rect">
            <a:avLst/>
          </a:prstGeom>
          <a:noFill/>
        </p:spPr>
        <p:txBody>
          <a:bodyPr wrap="square" rtlCol="0">
            <a:spAutoFit/>
          </a:bodyPr>
          <a:lstStyle/>
          <a:p>
            <a:r>
              <a:rPr lang="en-GB" dirty="0"/>
              <a:t>Abstract:</a:t>
            </a:r>
          </a:p>
          <a:p>
            <a:endParaRPr lang="en-GB" dirty="0"/>
          </a:p>
        </p:txBody>
      </p:sp>
    </p:spTree>
    <p:extLst>
      <p:ext uri="{BB962C8B-B14F-4D97-AF65-F5344CB8AC3E}">
        <p14:creationId xmlns:p14="http://schemas.microsoft.com/office/powerpoint/2010/main" val="2197733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FAA2B5-6184-4E60-91BC-24EEC211F619}"/>
              </a:ext>
            </a:extLst>
          </p:cNvPr>
          <p:cNvSpPr>
            <a:spLocks noGrp="1"/>
          </p:cNvSpPr>
          <p:nvPr>
            <p:ph type="ctrTitle"/>
          </p:nvPr>
        </p:nvSpPr>
        <p:spPr>
          <a:xfrm>
            <a:off x="181896" y="207963"/>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Literature Survey 2</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D106EBB-FC1C-51A6-C8CA-6022BC00094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sp>
        <p:nvSpPr>
          <p:cNvPr id="3" name="TextBox 2"/>
          <p:cNvSpPr txBox="1"/>
          <p:nvPr/>
        </p:nvSpPr>
        <p:spPr>
          <a:xfrm>
            <a:off x="410817" y="2345635"/>
            <a:ext cx="8719931" cy="2308324"/>
          </a:xfrm>
          <a:prstGeom prst="rect">
            <a:avLst/>
          </a:prstGeom>
          <a:noFill/>
        </p:spPr>
        <p:txBody>
          <a:bodyPr wrap="square" rtlCol="0">
            <a:spAutoFit/>
          </a:bodyPr>
          <a:lstStyle/>
          <a:p>
            <a:r>
              <a:rPr lang="en-GB" dirty="0"/>
              <a:t>Gas level measurement using a load cell sensor involves mounting the load cell beneath the gas container or integrating it into the support structure. The load cell detects the weight changes caused by variations in gas levels. After calibrating the load cell to ensure accuracy, baseline measurements are taken when the gas container is full. As the gas level changes, the load cell measures the corresponding weight difference, allowing for inference of the gas level. Data processing techniques are then applied to convert these weight measurements into meaningful gas level readings, which can be presented through various output methods for monitoring and control purposes.</a:t>
            </a:r>
          </a:p>
        </p:txBody>
      </p:sp>
      <p:sp>
        <p:nvSpPr>
          <p:cNvPr id="4" name="TextBox 3"/>
          <p:cNvSpPr txBox="1"/>
          <p:nvPr/>
        </p:nvSpPr>
        <p:spPr>
          <a:xfrm>
            <a:off x="410817" y="1668045"/>
            <a:ext cx="1378226" cy="369332"/>
          </a:xfrm>
          <a:prstGeom prst="rect">
            <a:avLst/>
          </a:prstGeom>
          <a:noFill/>
        </p:spPr>
        <p:txBody>
          <a:bodyPr wrap="square" rtlCol="0">
            <a:spAutoFit/>
          </a:bodyPr>
          <a:lstStyle/>
          <a:p>
            <a:r>
              <a:rPr lang="en-GB" dirty="0"/>
              <a:t>Abstract:</a:t>
            </a:r>
          </a:p>
        </p:txBody>
      </p:sp>
    </p:spTree>
    <p:extLst>
      <p:ext uri="{BB962C8B-B14F-4D97-AF65-F5344CB8AC3E}">
        <p14:creationId xmlns:p14="http://schemas.microsoft.com/office/powerpoint/2010/main" val="1478698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FAA2B5-6184-4E60-91BC-24EEC211F619}"/>
              </a:ext>
            </a:extLst>
          </p:cNvPr>
          <p:cNvSpPr>
            <a:spLocks noGrp="1"/>
          </p:cNvSpPr>
          <p:nvPr>
            <p:ph type="ctrTitle"/>
          </p:nvPr>
        </p:nvSpPr>
        <p:spPr>
          <a:xfrm>
            <a:off x="570203" y="233015"/>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Literature Survey 3</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BEDF793-6BE1-103D-3E87-DF8D5917DA0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sp>
        <p:nvSpPr>
          <p:cNvPr id="9" name="TextBox 8"/>
          <p:cNvSpPr txBox="1"/>
          <p:nvPr/>
        </p:nvSpPr>
        <p:spPr>
          <a:xfrm>
            <a:off x="739036" y="1891430"/>
            <a:ext cx="6713950" cy="369332"/>
          </a:xfrm>
          <a:prstGeom prst="rect">
            <a:avLst/>
          </a:prstGeom>
          <a:noFill/>
        </p:spPr>
        <p:txBody>
          <a:bodyPr wrap="square" rtlCol="0">
            <a:spAutoFit/>
          </a:bodyPr>
          <a:lstStyle/>
          <a:p>
            <a:r>
              <a:rPr lang="en-GB" dirty="0"/>
              <a:t>Measurements for components:</a:t>
            </a:r>
          </a:p>
        </p:txBody>
      </p:sp>
      <p:graphicFrame>
        <p:nvGraphicFramePr>
          <p:cNvPr id="10" name="Table 9"/>
          <p:cNvGraphicFramePr>
            <a:graphicFrameLocks noGrp="1"/>
          </p:cNvGraphicFramePr>
          <p:nvPr>
            <p:extLst>
              <p:ext uri="{D42A27DB-BD31-4B8C-83A1-F6EECF244321}">
                <p14:modId xmlns:p14="http://schemas.microsoft.com/office/powerpoint/2010/main" val="2352043967"/>
              </p:ext>
            </p:extLst>
          </p:nvPr>
        </p:nvGraphicFramePr>
        <p:xfrm>
          <a:off x="1653436" y="3081403"/>
          <a:ext cx="5549030" cy="2544243"/>
        </p:xfrm>
        <a:graphic>
          <a:graphicData uri="http://schemas.openxmlformats.org/drawingml/2006/table">
            <a:tbl>
              <a:tblPr firstRow="1" bandRow="1">
                <a:tableStyleId>{5C22544A-7EE6-4342-B048-85BDC9FD1C3A}</a:tableStyleId>
              </a:tblPr>
              <a:tblGrid>
                <a:gridCol w="2642991">
                  <a:extLst>
                    <a:ext uri="{9D8B030D-6E8A-4147-A177-3AD203B41FA5}">
                      <a16:colId xmlns:a16="http://schemas.microsoft.com/office/drawing/2014/main" val="20000"/>
                    </a:ext>
                  </a:extLst>
                </a:gridCol>
                <a:gridCol w="2906039">
                  <a:extLst>
                    <a:ext uri="{9D8B030D-6E8A-4147-A177-3AD203B41FA5}">
                      <a16:colId xmlns:a16="http://schemas.microsoft.com/office/drawing/2014/main" val="20001"/>
                    </a:ext>
                  </a:extLst>
                </a:gridCol>
              </a:tblGrid>
              <a:tr h="523999">
                <a:tc>
                  <a:txBody>
                    <a:bodyPr/>
                    <a:lstStyle/>
                    <a:p>
                      <a:r>
                        <a:rPr lang="en-GB" baseline="0" dirty="0"/>
                        <a:t>     HEIGHTS IN MM </a:t>
                      </a:r>
                      <a:endParaRPr lang="en-GB" dirty="0"/>
                    </a:p>
                  </a:txBody>
                  <a:tcPr/>
                </a:tc>
                <a:tc>
                  <a:txBody>
                    <a:bodyPr/>
                    <a:lstStyle/>
                    <a:p>
                      <a:r>
                        <a:rPr lang="en-GB" baseline="0" dirty="0"/>
                        <a:t>            WEIGHT</a:t>
                      </a:r>
                      <a:endParaRPr lang="en-GB" dirty="0"/>
                    </a:p>
                  </a:txBody>
                  <a:tcPr/>
                </a:tc>
                <a:extLst>
                  <a:ext uri="{0D108BD9-81ED-4DB2-BD59-A6C34878D82A}">
                    <a16:rowId xmlns:a16="http://schemas.microsoft.com/office/drawing/2014/main" val="10000"/>
                  </a:ext>
                </a:extLst>
              </a:tr>
              <a:tr h="370042">
                <a:tc>
                  <a:txBody>
                    <a:bodyPr/>
                    <a:lstStyle/>
                    <a:p>
                      <a:r>
                        <a:rPr lang="en-GB" dirty="0"/>
                        <a:t>LPG-CYLINDER  -</a:t>
                      </a:r>
                      <a:r>
                        <a:rPr lang="en-GB" baseline="0" dirty="0"/>
                        <a:t> </a:t>
                      </a:r>
                      <a:r>
                        <a:rPr lang="en-GB" dirty="0"/>
                        <a:t>648mm</a:t>
                      </a:r>
                    </a:p>
                  </a:txBody>
                  <a:tcPr/>
                </a:tc>
                <a:tc>
                  <a:txBody>
                    <a:bodyPr/>
                    <a:lstStyle/>
                    <a:p>
                      <a:r>
                        <a:rPr lang="en-GB" dirty="0"/>
                        <a:t>   14.8kg to 29kg</a:t>
                      </a:r>
                    </a:p>
                  </a:txBody>
                  <a:tcPr/>
                </a:tc>
                <a:extLst>
                  <a:ext uri="{0D108BD9-81ED-4DB2-BD59-A6C34878D82A}">
                    <a16:rowId xmlns:a16="http://schemas.microsoft.com/office/drawing/2014/main" val="10001"/>
                  </a:ext>
                </a:extLst>
              </a:tr>
              <a:tr h="370042">
                <a:tc>
                  <a:txBody>
                    <a:bodyPr/>
                    <a:lstStyle/>
                    <a:p>
                      <a:r>
                        <a:rPr lang="en-GB" dirty="0"/>
                        <a:t>LOADCELL SENSOR – 25mm</a:t>
                      </a:r>
                    </a:p>
                  </a:txBody>
                  <a:tcPr/>
                </a:tc>
                <a:tc>
                  <a:txBody>
                    <a:bodyPr/>
                    <a:lstStyle/>
                    <a:p>
                      <a:r>
                        <a:rPr lang="en-GB" dirty="0"/>
                        <a:t>   30kg</a:t>
                      </a:r>
                    </a:p>
                  </a:txBody>
                  <a:tcPr/>
                </a:tc>
                <a:extLst>
                  <a:ext uri="{0D108BD9-81ED-4DB2-BD59-A6C34878D82A}">
                    <a16:rowId xmlns:a16="http://schemas.microsoft.com/office/drawing/2014/main" val="10002"/>
                  </a:ext>
                </a:extLst>
              </a:tr>
              <a:tr h="370042">
                <a:tc>
                  <a:txBody>
                    <a:bodyPr/>
                    <a:lstStyle/>
                    <a:p>
                      <a:r>
                        <a:rPr lang="en-GB" dirty="0"/>
                        <a:t>HX</a:t>
                      </a:r>
                      <a:r>
                        <a:rPr lang="en-GB" baseline="0" dirty="0"/>
                        <a:t> 711 ARDUINO </a:t>
                      </a:r>
                      <a:endParaRPr lang="en-GB" dirty="0"/>
                    </a:p>
                  </a:txBody>
                  <a:tcPr/>
                </a:tc>
                <a:tc>
                  <a:txBody>
                    <a:bodyPr/>
                    <a:lstStyle/>
                    <a:p>
                      <a:r>
                        <a:rPr lang="en-GB" baseline="0" dirty="0"/>
                        <a:t>   0.250mg</a:t>
                      </a:r>
                      <a:endParaRPr lang="en-GB" dirty="0"/>
                    </a:p>
                  </a:txBody>
                  <a:tcPr/>
                </a:tc>
                <a:extLst>
                  <a:ext uri="{0D108BD9-81ED-4DB2-BD59-A6C34878D82A}">
                    <a16:rowId xmlns:a16="http://schemas.microsoft.com/office/drawing/2014/main" val="10003"/>
                  </a:ext>
                </a:extLst>
              </a:tr>
              <a:tr h="370042">
                <a:tc>
                  <a:txBody>
                    <a:bodyPr/>
                    <a:lstStyle/>
                    <a:p>
                      <a:r>
                        <a:rPr lang="en-GB" dirty="0"/>
                        <a:t>LCD DISPLAY WITH 12C</a:t>
                      </a:r>
                      <a:r>
                        <a:rPr lang="en-GB" baseline="0" dirty="0"/>
                        <a:t> – 74.2*25.2mm</a:t>
                      </a:r>
                      <a:endParaRPr lang="en-GB" dirty="0"/>
                    </a:p>
                  </a:txBody>
                  <a:tcPr/>
                </a:tc>
                <a:tc>
                  <a:txBody>
                    <a:bodyPr/>
                    <a:lstStyle/>
                    <a:p>
                      <a:r>
                        <a:rPr lang="en-GB" dirty="0"/>
                        <a:t>   1.42</a:t>
                      </a:r>
                      <a:r>
                        <a:rPr lang="en-GB" baseline="0" dirty="0"/>
                        <a:t> g</a:t>
                      </a:r>
                      <a:endParaRPr lang="en-GB"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9999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FAA2B5-6184-4E60-91BC-24EEC211F619}"/>
              </a:ext>
            </a:extLst>
          </p:cNvPr>
          <p:cNvSpPr>
            <a:spLocks noGrp="1"/>
          </p:cNvSpPr>
          <p:nvPr>
            <p:ph type="ctrTitle"/>
          </p:nvPr>
        </p:nvSpPr>
        <p:spPr>
          <a:xfrm>
            <a:off x="181896" y="207963"/>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Summary of Literature Survey </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1FBDD13-4AC5-4C25-0CEB-62449142801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sp>
        <p:nvSpPr>
          <p:cNvPr id="3" name="TextBox 2"/>
          <p:cNvSpPr txBox="1"/>
          <p:nvPr/>
        </p:nvSpPr>
        <p:spPr>
          <a:xfrm>
            <a:off x="400833" y="1703540"/>
            <a:ext cx="9482203" cy="369332"/>
          </a:xfrm>
          <a:prstGeom prst="rect">
            <a:avLst/>
          </a:prstGeom>
          <a:noFill/>
        </p:spPr>
        <p:txBody>
          <a:bodyPr wrap="square" rtlCol="0">
            <a:spAutoFit/>
          </a:bodyPr>
          <a:lstStyle/>
          <a:p>
            <a:r>
              <a:rPr lang="en-GB" dirty="0"/>
              <a:t>Using load cell sensor to find the level of LPG gas is very easy way to  identify the level:</a:t>
            </a:r>
          </a:p>
        </p:txBody>
      </p:sp>
      <p:sp>
        <p:nvSpPr>
          <p:cNvPr id="4" name="TextBox 3"/>
          <p:cNvSpPr txBox="1"/>
          <p:nvPr/>
        </p:nvSpPr>
        <p:spPr>
          <a:xfrm>
            <a:off x="776614" y="2072872"/>
            <a:ext cx="10960274" cy="3416320"/>
          </a:xfrm>
          <a:prstGeom prst="rect">
            <a:avLst/>
          </a:prstGeom>
          <a:noFill/>
        </p:spPr>
        <p:txBody>
          <a:bodyPr wrap="square" rtlCol="0">
            <a:spAutoFit/>
          </a:bodyPr>
          <a:lstStyle/>
          <a:p>
            <a:r>
              <a:rPr lang="en-GB" dirty="0"/>
              <a:t>	Sensor Selection: Evaluate various sensor options suitable for measuring LPG gas levels, considering factors such as accuracy, reliability, and compatibility with the system.</a:t>
            </a:r>
          </a:p>
          <a:p>
            <a:r>
              <a:rPr lang="en-GB" dirty="0"/>
              <a:t>	System Design: Design the architecture of the automated gas level detection system, including sensor placement, data processing algorithms, and user interface layout.</a:t>
            </a:r>
          </a:p>
          <a:p>
            <a:r>
              <a:rPr lang="en-GB" dirty="0"/>
              <a:t>	Prototype Development: Develop a working prototype of the automated system, integrating selected sensors, implementing data processing algorithms, and creating a basic user interface for testing.</a:t>
            </a:r>
          </a:p>
          <a:p>
            <a:r>
              <a:rPr lang="en-GB" dirty="0"/>
              <a:t>	Testing and Optimization: Conduct rigorous testing of the prototype to ensure accuracy and reliability under various conditions. Optimize the system performance based on test results and user feedback.</a:t>
            </a:r>
          </a:p>
          <a:p>
            <a:r>
              <a:rPr lang="en-GB" dirty="0"/>
              <a:t>	Interface Development: Design and develop a user-friendly interface for monitoring and managing gas levels, incorporating features such as real-time data display, alerts for low levels, and historical data analysis.</a:t>
            </a:r>
          </a:p>
          <a:p>
            <a:r>
              <a:rPr lang="en-GB" dirty="0"/>
              <a:t>	Integration and Deployment: Integrate all components of the system into a cohesive unit and deploy it for field testing in real-world environments, gathering further feedback for refinement.</a:t>
            </a:r>
          </a:p>
        </p:txBody>
      </p:sp>
    </p:spTree>
    <p:extLst>
      <p:ext uri="{BB962C8B-B14F-4D97-AF65-F5344CB8AC3E}">
        <p14:creationId xmlns:p14="http://schemas.microsoft.com/office/powerpoint/2010/main" val="1648859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FAA2B5-6184-4E60-91BC-24EEC211F619}"/>
              </a:ext>
            </a:extLst>
          </p:cNvPr>
          <p:cNvSpPr>
            <a:spLocks noGrp="1"/>
          </p:cNvSpPr>
          <p:nvPr>
            <p:ph type="ctrTitle"/>
          </p:nvPr>
        </p:nvSpPr>
        <p:spPr>
          <a:xfrm>
            <a:off x="181896" y="207963"/>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 Block Diagram </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E1AEDA8-4FBE-2EC0-9F32-E42361BEBF9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pic>
        <p:nvPicPr>
          <p:cNvPr id="4" name="Picture 3"/>
          <p:cNvPicPr/>
          <p:nvPr/>
        </p:nvPicPr>
        <p:blipFill>
          <a:blip r:embed="rId3"/>
          <a:srcRect/>
          <a:stretch>
            <a:fillRect/>
          </a:stretch>
        </p:blipFill>
        <p:spPr bwMode="auto">
          <a:xfrm>
            <a:off x="1918004" y="1657722"/>
            <a:ext cx="5414010" cy="4337685"/>
          </a:xfrm>
          <a:prstGeom prst="rect">
            <a:avLst/>
          </a:prstGeom>
          <a:noFill/>
          <a:ln w="9525">
            <a:noFill/>
            <a:miter lim="800000"/>
            <a:headEnd/>
            <a:tailEnd/>
          </a:ln>
        </p:spPr>
      </p:pic>
    </p:spTree>
    <p:extLst>
      <p:ext uri="{BB962C8B-B14F-4D97-AF65-F5344CB8AC3E}">
        <p14:creationId xmlns:p14="http://schemas.microsoft.com/office/powerpoint/2010/main" val="200735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FAA2B5-6184-4E60-91BC-24EEC211F619}"/>
              </a:ext>
            </a:extLst>
          </p:cNvPr>
          <p:cNvSpPr>
            <a:spLocks noGrp="1"/>
          </p:cNvSpPr>
          <p:nvPr>
            <p:ph type="ctrTitle"/>
          </p:nvPr>
        </p:nvSpPr>
        <p:spPr>
          <a:xfrm>
            <a:off x="376618" y="455266"/>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Components requirement</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50B5ACB-7EFD-C77F-5670-5294191A8E5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8626"/>
            <a:ext cx="1877053" cy="1460311"/>
          </a:xfrm>
          <a:prstGeom prst="rect">
            <a:avLst/>
          </a:prstGeom>
          <a:noFill/>
          <a:ln>
            <a:noFill/>
          </a:ln>
        </p:spPr>
      </p:pic>
      <p:sp>
        <p:nvSpPr>
          <p:cNvPr id="3" name="TextBox 2"/>
          <p:cNvSpPr txBox="1"/>
          <p:nvPr/>
        </p:nvSpPr>
        <p:spPr>
          <a:xfrm>
            <a:off x="397565" y="2587288"/>
            <a:ext cx="8574157" cy="1846659"/>
          </a:xfrm>
          <a:prstGeom prst="rect">
            <a:avLst/>
          </a:prstGeom>
          <a:solidFill>
            <a:schemeClr val="bg1"/>
          </a:solidFill>
        </p:spPr>
        <p:txBody>
          <a:bodyPr wrap="square" rtlCol="0">
            <a:spAutoFit/>
          </a:bodyPr>
          <a:lstStyle/>
          <a:p>
            <a:r>
              <a:rPr lang="en-GB" sz="2400" u="sng" dirty="0"/>
              <a:t>Components</a:t>
            </a:r>
            <a:r>
              <a:rPr lang="en-GB" dirty="0"/>
              <a:t>:</a:t>
            </a:r>
            <a:endParaRPr lang="en-GB" dirty="0">
              <a:solidFill>
                <a:srgbClr val="FF0000"/>
              </a:solidFill>
            </a:endParaRPr>
          </a:p>
          <a:p>
            <a:endParaRPr lang="en-GB" dirty="0"/>
          </a:p>
          <a:p>
            <a:pPr marL="285750" indent="-285750">
              <a:buFont typeface="Arial" charset="0"/>
              <a:buChar char="•"/>
            </a:pPr>
            <a:r>
              <a:rPr lang="en-GB" dirty="0"/>
              <a:t>1) load cell sensor</a:t>
            </a:r>
          </a:p>
          <a:p>
            <a:pPr marL="285750" indent="-285750">
              <a:buFont typeface="Arial" charset="0"/>
              <a:buChar char="•"/>
            </a:pPr>
            <a:r>
              <a:rPr lang="en-GB" dirty="0"/>
              <a:t>2) HX 711 </a:t>
            </a:r>
            <a:r>
              <a:rPr lang="en-GB" dirty="0" err="1"/>
              <a:t>arduino</a:t>
            </a:r>
            <a:r>
              <a:rPr lang="en-GB" dirty="0"/>
              <a:t> board</a:t>
            </a:r>
          </a:p>
          <a:p>
            <a:pPr marL="285750" indent="-285750">
              <a:buFont typeface="Arial" charset="0"/>
              <a:buChar char="•"/>
            </a:pPr>
            <a:r>
              <a:rPr lang="en-GB" dirty="0"/>
              <a:t>3) LCD display with 12 c ,display board</a:t>
            </a:r>
          </a:p>
          <a:p>
            <a:endParaRPr lang="en-GB" dirty="0"/>
          </a:p>
        </p:txBody>
      </p:sp>
    </p:spTree>
    <p:extLst>
      <p:ext uri="{BB962C8B-B14F-4D97-AF65-F5344CB8AC3E}">
        <p14:creationId xmlns:p14="http://schemas.microsoft.com/office/powerpoint/2010/main" val="1618863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2DA7C-E082-6CB7-E676-829802F4A1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A84F52-25D6-33EE-FA1D-D177D295ABCA}"/>
              </a:ext>
            </a:extLst>
          </p:cNvPr>
          <p:cNvSpPr>
            <a:spLocks noGrp="1"/>
          </p:cNvSpPr>
          <p:nvPr>
            <p:ph type="ctrTitle"/>
          </p:nvPr>
        </p:nvSpPr>
        <p:spPr>
          <a:xfrm>
            <a:off x="240889" y="163718"/>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Components image &amp; operation</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4FE99F6-5EF4-48AD-CE60-4045F5398E7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74225" y="1814565"/>
            <a:ext cx="3339021" cy="3168252"/>
          </a:xfrm>
          <a:prstGeom prst="rect">
            <a:avLst/>
          </a:prstGeom>
        </p:spPr>
      </p:pic>
      <p:sp>
        <p:nvSpPr>
          <p:cNvPr id="4" name="TextBox 3"/>
          <p:cNvSpPr txBox="1"/>
          <p:nvPr/>
        </p:nvSpPr>
        <p:spPr>
          <a:xfrm>
            <a:off x="795131" y="2133598"/>
            <a:ext cx="5579166" cy="3416320"/>
          </a:xfrm>
          <a:prstGeom prst="rect">
            <a:avLst/>
          </a:prstGeom>
          <a:noFill/>
        </p:spPr>
        <p:txBody>
          <a:bodyPr wrap="square" rtlCol="0">
            <a:spAutoFit/>
          </a:bodyPr>
          <a:lstStyle/>
          <a:p>
            <a:r>
              <a:rPr lang="en-GB" sz="2400" b="1" dirty="0"/>
              <a:t>Load cell sensor and it’s  operation</a:t>
            </a:r>
            <a:r>
              <a:rPr lang="en-GB" sz="2400" dirty="0"/>
              <a:t>:</a:t>
            </a:r>
          </a:p>
          <a:p>
            <a:endParaRPr lang="en-GB" sz="2400" dirty="0"/>
          </a:p>
          <a:p>
            <a:r>
              <a:rPr lang="en-GB" sz="2400" dirty="0"/>
              <a:t>A load cell sensor is an electro-mechanical sensor used to measure the force (or) weight.it has a simple yet effective design which relies upon the well-known transference between an applied force , material deformation and the flow of electricity.</a:t>
            </a:r>
          </a:p>
        </p:txBody>
      </p:sp>
    </p:spTree>
    <p:extLst>
      <p:ext uri="{BB962C8B-B14F-4D97-AF65-F5344CB8AC3E}">
        <p14:creationId xmlns:p14="http://schemas.microsoft.com/office/powerpoint/2010/main" val="2552245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4A6AA-8D7D-C191-F50F-31AE92A09CE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7344AA7-9305-E1C7-6C54-C3B127F020BE}"/>
              </a:ext>
            </a:extLst>
          </p:cNvPr>
          <p:cNvSpPr>
            <a:spLocks noGrp="1"/>
          </p:cNvSpPr>
          <p:nvPr>
            <p:ph type="ctrTitle"/>
          </p:nvPr>
        </p:nvSpPr>
        <p:spPr>
          <a:xfrm>
            <a:off x="240889" y="163718"/>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Components image &amp; </a:t>
            </a:r>
            <a:r>
              <a:rPr lang="en-US" sz="4000" dirty="0" err="1">
                <a:latin typeface="Times New Roman" panose="02020603050405020304" pitchFamily="18" charset="0"/>
                <a:cs typeface="Times New Roman" panose="02020603050405020304" pitchFamily="18" charset="0"/>
              </a:rPr>
              <a:t>opertaion</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296C791-0AFA-BB8E-586B-D2F2BE52A07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1704732"/>
            <a:ext cx="3698858" cy="3384101"/>
          </a:xfrm>
          <a:prstGeom prst="rect">
            <a:avLst/>
          </a:prstGeom>
        </p:spPr>
      </p:pic>
      <p:sp>
        <p:nvSpPr>
          <p:cNvPr id="4" name="TextBox 3"/>
          <p:cNvSpPr txBox="1"/>
          <p:nvPr/>
        </p:nvSpPr>
        <p:spPr>
          <a:xfrm>
            <a:off x="768625" y="1905300"/>
            <a:ext cx="6573079" cy="3724096"/>
          </a:xfrm>
          <a:prstGeom prst="rect">
            <a:avLst/>
          </a:prstGeom>
          <a:noFill/>
        </p:spPr>
        <p:txBody>
          <a:bodyPr wrap="square" rtlCol="0">
            <a:spAutoFit/>
          </a:bodyPr>
          <a:lstStyle/>
          <a:p>
            <a:r>
              <a:rPr lang="en-GB" sz="2400" b="1" dirty="0"/>
              <a:t>HX</a:t>
            </a:r>
            <a:r>
              <a:rPr lang="en-GB" sz="2400" dirty="0"/>
              <a:t> </a:t>
            </a:r>
            <a:r>
              <a:rPr lang="en-GB" sz="2400" b="1" dirty="0"/>
              <a:t>711</a:t>
            </a:r>
            <a:r>
              <a:rPr lang="en-GB" sz="2400" dirty="0"/>
              <a:t> </a:t>
            </a:r>
            <a:r>
              <a:rPr lang="en-GB" sz="2400" b="1" dirty="0" err="1"/>
              <a:t>Arduino</a:t>
            </a:r>
            <a:r>
              <a:rPr lang="en-GB" sz="2400" b="1" dirty="0"/>
              <a:t> board:</a:t>
            </a:r>
          </a:p>
          <a:p>
            <a:endParaRPr lang="en-GB" sz="2400" b="1" dirty="0"/>
          </a:p>
          <a:p>
            <a:r>
              <a:rPr lang="en-GB" sz="2400" dirty="0"/>
              <a:t>Load cell which is an amplifier senses the weight and supplies an electrical </a:t>
            </a:r>
            <a:r>
              <a:rPr lang="en-GB" sz="2400" dirty="0" err="1"/>
              <a:t>analog</a:t>
            </a:r>
            <a:r>
              <a:rPr lang="en-GB" sz="2400" dirty="0"/>
              <a:t> voltage to HX 711 load amplifier </a:t>
            </a:r>
            <a:r>
              <a:rPr lang="en-GB" sz="2400" dirty="0" err="1"/>
              <a:t>module.then</a:t>
            </a:r>
            <a:r>
              <a:rPr lang="en-GB" sz="2400" dirty="0"/>
              <a:t> this amplified value is fed to the </a:t>
            </a:r>
            <a:r>
              <a:rPr lang="en-GB" sz="2400" dirty="0" err="1"/>
              <a:t>arduino</a:t>
            </a:r>
            <a:r>
              <a:rPr lang="en-GB" sz="2400" dirty="0"/>
              <a:t> where the output of HX 711 is converted into the weight values in </a:t>
            </a:r>
            <a:r>
              <a:rPr lang="en-GB" sz="2400" dirty="0" err="1"/>
              <a:t>grams.the</a:t>
            </a:r>
            <a:r>
              <a:rPr lang="en-GB" sz="2400" dirty="0"/>
              <a:t> output result is displayed on 16*2 LCD</a:t>
            </a:r>
            <a:r>
              <a:rPr lang="en-GB" sz="3200" dirty="0"/>
              <a:t>.</a:t>
            </a:r>
          </a:p>
          <a:p>
            <a:endParaRPr lang="en-GB" b="1" dirty="0"/>
          </a:p>
          <a:p>
            <a:endParaRPr lang="en-GB" dirty="0"/>
          </a:p>
        </p:txBody>
      </p:sp>
    </p:spTree>
    <p:extLst>
      <p:ext uri="{BB962C8B-B14F-4D97-AF65-F5344CB8AC3E}">
        <p14:creationId xmlns:p14="http://schemas.microsoft.com/office/powerpoint/2010/main" val="3907358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28CF0-3802-7D40-5B73-2DFE2B77A9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08C3F81-6AA6-D7C9-95DC-AF09A710D0D0}"/>
              </a:ext>
            </a:extLst>
          </p:cNvPr>
          <p:cNvSpPr>
            <a:spLocks noGrp="1"/>
          </p:cNvSpPr>
          <p:nvPr>
            <p:ph type="ctrTitle"/>
          </p:nvPr>
        </p:nvSpPr>
        <p:spPr>
          <a:xfrm>
            <a:off x="240889" y="163718"/>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Components image &amp; operation</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BEC190E-BD93-0AB0-A31C-F37B9E8C245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9014" y="1722781"/>
            <a:ext cx="2776993" cy="4207565"/>
          </a:xfrm>
          <a:prstGeom prst="rect">
            <a:avLst/>
          </a:prstGeom>
        </p:spPr>
      </p:pic>
      <p:sp>
        <p:nvSpPr>
          <p:cNvPr id="4" name="TextBox 3"/>
          <p:cNvSpPr txBox="1"/>
          <p:nvPr/>
        </p:nvSpPr>
        <p:spPr>
          <a:xfrm>
            <a:off x="344557" y="1895061"/>
            <a:ext cx="6228521" cy="1200329"/>
          </a:xfrm>
          <a:prstGeom prst="rect">
            <a:avLst/>
          </a:prstGeom>
          <a:noFill/>
        </p:spPr>
        <p:txBody>
          <a:bodyPr wrap="square" rtlCol="0">
            <a:spAutoFit/>
          </a:bodyPr>
          <a:lstStyle/>
          <a:p>
            <a:r>
              <a:rPr lang="en-GB" dirty="0"/>
              <a:t>LCD display with 12c :</a:t>
            </a:r>
          </a:p>
          <a:p>
            <a:r>
              <a:rPr lang="en-GB" dirty="0"/>
              <a:t>The 12c LCD component drives an 12c interfaced 2 line by 16 character </a:t>
            </a:r>
            <a:r>
              <a:rPr lang="en-GB" dirty="0" err="1"/>
              <a:t>LCD.the</a:t>
            </a:r>
            <a:r>
              <a:rPr lang="en-GB" dirty="0"/>
              <a:t> 12c master component and makes use of an existing 12c master </a:t>
            </a:r>
            <a:r>
              <a:rPr lang="en-GB" dirty="0" err="1"/>
              <a:t>component.if</a:t>
            </a:r>
            <a:r>
              <a:rPr lang="en-GB" dirty="0"/>
              <a:t> a </a:t>
            </a:r>
          </a:p>
        </p:txBody>
      </p:sp>
    </p:spTree>
    <p:extLst>
      <p:ext uri="{BB962C8B-B14F-4D97-AF65-F5344CB8AC3E}">
        <p14:creationId xmlns:p14="http://schemas.microsoft.com/office/powerpoint/2010/main" val="2234949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FAA2B5-6184-4E60-91BC-24EEC211F619}"/>
              </a:ext>
            </a:extLst>
          </p:cNvPr>
          <p:cNvSpPr>
            <a:spLocks noGrp="1"/>
          </p:cNvSpPr>
          <p:nvPr>
            <p:ph type="ctrTitle"/>
          </p:nvPr>
        </p:nvSpPr>
        <p:spPr>
          <a:xfrm>
            <a:off x="240889" y="163718"/>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 Product design / 3D view /Sketch</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7D16337-5000-3E9C-D141-888E0F4F4E8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4400" y="2018739"/>
            <a:ext cx="3306805" cy="3348663"/>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9995" y="2309651"/>
            <a:ext cx="5037552" cy="2766837"/>
          </a:xfrm>
          <a:prstGeom prst="rect">
            <a:avLst/>
          </a:prstGeom>
        </p:spPr>
      </p:pic>
    </p:spTree>
    <p:extLst>
      <p:ext uri="{BB962C8B-B14F-4D97-AF65-F5344CB8AC3E}">
        <p14:creationId xmlns:p14="http://schemas.microsoft.com/office/powerpoint/2010/main" val="1055971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5DFD1-AA21-AB27-DDAA-C25647ACB54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4EF16A-C998-84DE-8457-14B06333C794}"/>
              </a:ext>
            </a:extLst>
          </p:cNvPr>
          <p:cNvSpPr>
            <a:spLocks noGrp="1"/>
          </p:cNvSpPr>
          <p:nvPr>
            <p:ph type="ctrTitle"/>
          </p:nvPr>
        </p:nvSpPr>
        <p:spPr>
          <a:xfrm>
            <a:off x="240889" y="163718"/>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Reference</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A4D407A-7D49-06E8-BB77-E4C1BDC4BFF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sp>
        <p:nvSpPr>
          <p:cNvPr id="3" name="TextBox 2"/>
          <p:cNvSpPr txBox="1"/>
          <p:nvPr/>
        </p:nvSpPr>
        <p:spPr>
          <a:xfrm>
            <a:off x="350729" y="1615858"/>
            <a:ext cx="7390356" cy="369332"/>
          </a:xfrm>
          <a:prstGeom prst="rect">
            <a:avLst/>
          </a:prstGeom>
          <a:noFill/>
        </p:spPr>
        <p:txBody>
          <a:bodyPr wrap="square" rtlCol="0">
            <a:spAutoFit/>
          </a:bodyPr>
          <a:lstStyle/>
          <a:p>
            <a:r>
              <a:rPr lang="en-GB" dirty="0"/>
              <a:t>https://youtu.be/pWiS-oW3Snc?si=_B_m3IR897jLreXL</a:t>
            </a:r>
          </a:p>
        </p:txBody>
      </p:sp>
    </p:spTree>
    <p:extLst>
      <p:ext uri="{BB962C8B-B14F-4D97-AF65-F5344CB8AC3E}">
        <p14:creationId xmlns:p14="http://schemas.microsoft.com/office/powerpoint/2010/main" val="720670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1A590-9173-D989-BB38-DBB3241B6AB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AC05BBF-C2FD-9C9D-0985-D55F499986BC}"/>
              </a:ext>
            </a:extLst>
          </p:cNvPr>
          <p:cNvSpPr>
            <a:spLocks noGrp="1"/>
          </p:cNvSpPr>
          <p:nvPr>
            <p:ph type="ctrTitle"/>
          </p:nvPr>
        </p:nvSpPr>
        <p:spPr>
          <a:xfrm>
            <a:off x="76987" y="3024162"/>
            <a:ext cx="8740878" cy="809676"/>
          </a:xfrm>
          <a:solidFill>
            <a:schemeClr val="accent4">
              <a:lumMod val="75000"/>
            </a:schemeClr>
          </a:solidFill>
        </p:spPr>
        <p:txBody>
          <a:bodyPr>
            <a:normAutofit/>
          </a:bodyPr>
          <a:lstStyle/>
          <a:p>
            <a:pPr algn="l"/>
            <a:r>
              <a:rPr lang="en-US" sz="4000" dirty="0">
                <a:latin typeface="Times New Roman" panose="02020603050405020304" pitchFamily="18" charset="0"/>
                <a:cs typeface="Times New Roman" panose="02020603050405020304" pitchFamily="18" charset="0"/>
              </a:rPr>
              <a:t>Thank You</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1EF36F9-7079-B110-EF16-E342C037BFC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97225" y="0"/>
            <a:ext cx="1877053" cy="1460311"/>
          </a:xfrm>
          <a:prstGeom prst="rect">
            <a:avLst/>
          </a:prstGeom>
          <a:noFill/>
          <a:ln>
            <a:noFill/>
          </a:ln>
        </p:spPr>
      </p:pic>
    </p:spTree>
    <p:extLst>
      <p:ext uri="{BB962C8B-B14F-4D97-AF65-F5344CB8AC3E}">
        <p14:creationId xmlns:p14="http://schemas.microsoft.com/office/powerpoint/2010/main" val="41471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TotalTime>
  <Words>1069</Words>
  <Application>Microsoft Office PowerPoint</Application>
  <PresentationFormat>Widescreen</PresentationFormat>
  <Paragraphs>67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Smart LPG gas level monitoring system using load cell sensor </vt:lpstr>
      <vt:lpstr>Objective</vt:lpstr>
      <vt:lpstr>Problem Statement</vt:lpstr>
      <vt:lpstr>Proposed Solution</vt:lpstr>
      <vt:lpstr>Literature Survey 1</vt:lpstr>
      <vt:lpstr>Literature Survey 2</vt:lpstr>
      <vt:lpstr>Literature Survey 3</vt:lpstr>
      <vt:lpstr>Summary of Literature Survey </vt:lpstr>
      <vt:lpstr> Block Diagram </vt:lpstr>
      <vt:lpstr>Components requirement</vt:lpstr>
      <vt:lpstr>Components image &amp; operation</vt:lpstr>
      <vt:lpstr>Components image &amp; opertaion</vt:lpstr>
      <vt:lpstr>Components image &amp; operation</vt:lpstr>
      <vt:lpstr> Product design / 3D view /Sketch</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dc:title>
  <dc:creator>PSVPEC</dc:creator>
  <cp:lastModifiedBy>KEERTHANA THIRUMURUGAN</cp:lastModifiedBy>
  <cp:revision>38</cp:revision>
  <dcterms:created xsi:type="dcterms:W3CDTF">2023-11-03T14:21:58Z</dcterms:created>
  <dcterms:modified xsi:type="dcterms:W3CDTF">2026-07-05T05:16:58Z</dcterms:modified>
</cp:coreProperties>
</file>